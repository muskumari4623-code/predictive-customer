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g Shoulders ExtraBold"/>
      <p:regular r:id="rId201314"/>
    </p:embeddedFont>
    <p:embeddedFont>
      <p:font typeface="Libre Franklin Bold"/>
      <p:regular r:id="rId201315"/>
    </p:embeddedFont>
    <p:embeddedFont>
      <p:font typeface="Libre Franklin"/>
      <p:regular r:id="rId201316"/>
    </p:embeddedFont>
    <p:embeddedFont>
      <p:font typeface="Libre Franklin Medium"/>
      <p:regular r:id="rId201317"/>
    </p:embeddedFont>
    <p:embeddedFont>
      <p:font typeface="Libre Franklin SemiBold"/>
      <p:regular r:id="rId201318"/>
    </p:embeddedFont>
    <p:embeddedFont>
      <p:font typeface="Red Hat Mono Medium"/>
      <p:regular r:id="rId201319"/>
    </p:embeddedFont>
    <p:embeddedFont>
      <p:font typeface="Red Hat Mono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churn as an operating problem, not a model-building exercise. The goal is to recognize rising risk early enough to change the customer’s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intervention window. A model that identifies churn only after the customer has decided to leave may be accurate but operationally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model begins with assembled evidence, produces a risk score, explains that score, and ends with measured customer and business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families make the feature set legible to the business. They also create a bridge from model output to the teams that can act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label design determines what the model learns. The event, windows, and leakage rules must be agreed before feature engineering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baseline as a discipline, not a compromise. A candidate model must improve the measures that matter to retention, while remaining stable and actionable.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table as a dashboard blueprint. Ranking finds whom to contact, calibration tells us whether score bands can be trusted, value sets the threshold, and stability protects deployment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levels. Global explanations guide portfolio decisions, local explanations support one customer conversation, and operational translation connects a driver to a treatment and expected response. Explainable models and SHAP-style analyses are widely used to support telecom churn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transition from prediction to action explicit. The same risk level can call for different treatments because the underlying driver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operating loop. Deployment is not the end of the project: scoring, routing, logging, and learning create the system that improves future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image" Target="../media/image-5-1.png"/><Relationship Id="rId3" Type="http://schemas.openxmlformats.org/officeDocument/2006/relationships/image" Target="../media/image-10-3.png"/><Relationship Id="rId4" Type="http://schemas.openxmlformats.org/officeDocument/2006/relationships/image" Target="../media/image-5-1.png"/><Relationship Id="rId5" Type="http://schemas.openxmlformats.org/officeDocument/2006/relationships/image" Target="../media/image-10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58800"/>
            <a:ext cx="6349841" cy="5730280"/>
          </a:xfrm>
          <a:prstGeom prst="rect">
            <a:avLst/>
          </a:prstGeom>
          <a:solidFill>
            <a:srgbClr val="EFDDCC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5" y="558800"/>
            <a:ext cx="50799" cy="573028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4" name="Text 2"/>
          <p:cNvSpPr/>
          <p:nvPr/>
        </p:nvSpPr>
        <p:spPr>
          <a:xfrm>
            <a:off x="1041374" y="843343"/>
            <a:ext cx="617204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0B6B6A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RETENTION MODEL · DECISION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74" y="1233308"/>
            <a:ext cx="5562461" cy="4439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600" spc="-228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PREDICTING CHURN</a:t>
            </a:r>
            <a:endParaRPr lang="en-US" sz="7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7600" spc="-228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BEFORE THE CUSTOMER LEAVES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41374" y="5721418"/>
            <a:ext cx="5562461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Signals → explanation → retention action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41374" y="5727005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05865"/>
            <a:ext cx="6121247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CHURN IS A TIMING PROBLEM,</a:t>
            </a:r>
            <a:endParaRPr lang="en-US" sz="42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NOT ONLY A CLASSIFICATION PROBLEM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60383" y="2079097"/>
            <a:ext cx="6121247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useful score arrives before the decision to leave.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0383" y="2084685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2709688"/>
            <a:ext cx="6121247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See rising risk early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60383" y="3114306"/>
            <a:ext cx="6121247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Identify customers showing rising exit risk early enough to intervene.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0383" y="4210371"/>
            <a:ext cx="6121247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Separate who from why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60383" y="4614990"/>
            <a:ext cx="612124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Distinguish who may leave from why they may leave.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0383" y="5413200"/>
            <a:ext cx="6121247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Make the score useful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0383" y="5817818"/>
            <a:ext cx="612124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Turn a probability into a retention decision.</a:t>
            </a:r>
            <a:endParaRPr lang="en-US" sz="1700" dirty="0"/>
          </a:p>
        </p:txBody>
      </p:sp>
      <p:pic>
        <p:nvPicPr>
          <p:cNvPr id="11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16000"/>
                </a:lnTo>
                <a:close/>
              </a:path>
            </a:pathLst>
          </a:custGeom>
        </p:spPr>
      </p:pic>
      <p:sp>
        <p:nvSpPr>
          <p:cNvPr id="12" name="Shape 9"/>
          <p:cNvSpPr/>
          <p:nvPr/>
        </p:nvSpPr>
        <p:spPr>
          <a:xfrm>
            <a:off x="660383" y="4014093"/>
            <a:ext cx="6121247" cy="12700"/>
          </a:xfrm>
          <a:prstGeom prst="rect">
            <a:avLst/>
          </a:prstGeom>
          <a:solidFill>
            <a:srgbClr val="D4BEAA"/>
          </a:solidFill>
          <a:ln/>
        </p:spPr>
      </p:sp>
      <p:sp>
        <p:nvSpPr>
          <p:cNvPr id="13" name="Shape 10"/>
          <p:cNvSpPr/>
          <p:nvPr/>
        </p:nvSpPr>
        <p:spPr>
          <a:xfrm>
            <a:off x="660383" y="5216922"/>
            <a:ext cx="6121247" cy="12700"/>
          </a:xfrm>
          <a:prstGeom prst="rect">
            <a:avLst/>
          </a:prstGeom>
          <a:solidFill>
            <a:srgbClr val="D4BEA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11277318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THE MODEL CONNECTS CUSTOMER SIGNALS TO A RETENTION PLAY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613861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 score is one step in a chain of decisions.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619448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054523"/>
            <a:ext cx="86764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2356743"/>
            <a:ext cx="2590735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517402"/>
            <a:ext cx="2590735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Assemble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189" y="2922020"/>
            <a:ext cx="259073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Customer, service, billing, and interaction history.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52716" y="2054523"/>
            <a:ext cx="8965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52716" y="2356743"/>
            <a:ext cx="2590735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11" name="Text 9"/>
          <p:cNvSpPr/>
          <p:nvPr/>
        </p:nvSpPr>
        <p:spPr>
          <a:xfrm>
            <a:off x="3352716" y="2517402"/>
            <a:ext cx="2590735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Score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352716" y="2922020"/>
            <a:ext cx="259073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Near-term churn risk for each active customer.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2054523"/>
            <a:ext cx="90306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2356743"/>
            <a:ext cx="2590735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2517402"/>
            <a:ext cx="2590735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Explain and route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48244" y="2922020"/>
            <a:ext cx="259073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Drivers translated into an appropriate action.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3771" y="2054523"/>
            <a:ext cx="90673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3771" y="2356743"/>
            <a:ext cx="2590735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3771" y="2517402"/>
            <a:ext cx="2590735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Measure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3771" y="2922020"/>
            <a:ext cx="259073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Save rate, cost, and customer response.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11277318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USE A FEATURE SET THAT REFLECTS THE CUSTOMER RELATIONSHIP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613861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strongest signal is rarely one field. It is the pattern across the relationship.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619448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054523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835001"/>
            <a:ext cx="5410065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Relationship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189" y="3239619"/>
            <a:ext cx="563865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Tenure, contract type, plan, household profile.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2054523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2" y="2835001"/>
            <a:ext cx="5410065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Economics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324442" y="3239619"/>
            <a:ext cx="541006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Monthly charge, discounts, payment behavior, balance.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456212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189" y="5236690"/>
            <a:ext cx="5410065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Experience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457189" y="5641308"/>
            <a:ext cx="541006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Outages, technical tickets, complaints, contact-center friction.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4456212"/>
            <a:ext cx="539736" cy="539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24442" y="5236690"/>
            <a:ext cx="5410065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Engagement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324442" y="5641308"/>
            <a:ext cx="541006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Usage trend, add-on changes, digital activity, declining activity.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089498" y="2054523"/>
            <a:ext cx="12700" cy="2173089"/>
          </a:xfrm>
          <a:prstGeom prst="rect">
            <a:avLst/>
          </a:prstGeom>
          <a:solidFill>
            <a:srgbClr val="D4BEAA"/>
          </a:solidFill>
          <a:ln/>
        </p:spPr>
      </p:sp>
      <p:sp>
        <p:nvSpPr>
          <p:cNvPr id="18" name="Shape 12"/>
          <p:cNvSpPr/>
          <p:nvPr/>
        </p:nvSpPr>
        <p:spPr>
          <a:xfrm>
            <a:off x="457189" y="4221262"/>
            <a:ext cx="5638659" cy="12700"/>
          </a:xfrm>
          <a:prstGeom prst="rect">
            <a:avLst/>
          </a:prstGeom>
          <a:solidFill>
            <a:srgbClr val="D4BEAA"/>
          </a:solidFill>
          <a:ln/>
        </p:spPr>
      </p:sp>
      <p:sp>
        <p:nvSpPr>
          <p:cNvPr id="19" name="Shape 13"/>
          <p:cNvSpPr/>
          <p:nvPr/>
        </p:nvSpPr>
        <p:spPr>
          <a:xfrm>
            <a:off x="6089498" y="4227612"/>
            <a:ext cx="12700" cy="2173188"/>
          </a:xfrm>
          <a:prstGeom prst="rect">
            <a:avLst/>
          </a:prstGeom>
          <a:solidFill>
            <a:srgbClr val="D4BEAA"/>
          </a:solidFill>
          <a:ln/>
        </p:spPr>
      </p:sp>
      <p:sp>
        <p:nvSpPr>
          <p:cNvPr id="20" name="Shape 14"/>
          <p:cNvSpPr/>
          <p:nvPr/>
        </p:nvSpPr>
        <p:spPr>
          <a:xfrm>
            <a:off x="6095848" y="4221262"/>
            <a:ext cx="5638659" cy="12700"/>
          </a:xfrm>
          <a:prstGeom prst="rect">
            <a:avLst/>
          </a:prstGeom>
          <a:solidFill>
            <a:srgbClr val="D4BEA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11277318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DEFINE CHURN CAREFULLY BEFORE TRAINING ANYTHING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123224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label is a business decision with a clock attached.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128812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563886"/>
            <a:ext cx="3454314" cy="2305546"/>
          </a:xfrm>
          <a:prstGeom prst="roundRect">
            <a:avLst>
              <a:gd name="adj" fmla="val 496"/>
            </a:avLst>
          </a:prstGeom>
          <a:solidFill>
            <a:srgbClr val="D1FA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716286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2420564"/>
            <a:ext cx="314952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Event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9585" y="2825182"/>
            <a:ext cx="3149521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Cancellation, port-out, non-renewal, or prolonged inactivity.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8691" y="1563886"/>
            <a:ext cx="3454314" cy="2305546"/>
          </a:xfrm>
          <a:prstGeom prst="roundRect">
            <a:avLst>
              <a:gd name="adj" fmla="val 496"/>
            </a:avLst>
          </a:prstGeom>
          <a:solidFill>
            <a:srgbClr val="D1FA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87" y="1716286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1087" y="2420564"/>
            <a:ext cx="314952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Prediction window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521087" y="2825182"/>
            <a:ext cx="314952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Set how far ahead the score should look.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280193" y="1563886"/>
            <a:ext cx="3454314" cy="2305546"/>
          </a:xfrm>
          <a:prstGeom prst="roundRect">
            <a:avLst>
              <a:gd name="adj" fmla="val 496"/>
            </a:avLst>
          </a:prstGeom>
          <a:solidFill>
            <a:srgbClr val="D1FA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89" y="1716286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32589" y="2420564"/>
            <a:ext cx="314952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Intervention window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432589" y="2825182"/>
            <a:ext cx="314952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Set enough time for a treatment to work.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57189" y="4326632"/>
            <a:ext cx="5410065" cy="2007691"/>
          </a:xfrm>
          <a:prstGeom prst="roundRect">
            <a:avLst>
              <a:gd name="adj" fmla="val 569"/>
            </a:avLst>
          </a:prstGeom>
          <a:solidFill>
            <a:srgbClr val="D1FA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479032"/>
            <a:ext cx="539736" cy="539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9585" y="5183310"/>
            <a:ext cx="5105272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Leakage controls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609585" y="5587929"/>
            <a:ext cx="5105272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Use only information available before the score date.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6324442" y="4326632"/>
            <a:ext cx="5410065" cy="2007691"/>
          </a:xfrm>
          <a:prstGeom prst="roundRect">
            <a:avLst>
              <a:gd name="adj" fmla="val 569"/>
            </a:avLst>
          </a:prstGeom>
          <a:solidFill>
            <a:srgbClr val="D1FA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4479032"/>
            <a:ext cx="539736" cy="5397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76838" y="5183310"/>
            <a:ext cx="5105272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Edge cases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6476838" y="5587929"/>
            <a:ext cx="5105272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Document exclusions, reactivations, and multi-line accounts.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11277318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START WITH A TRANSPARENT BASELINE,</a:t>
            </a:r>
            <a:endParaRPr lang="en-US" sz="42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THEN EARN COMPLEXITY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613861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Complexity is justified only when it improves the decision.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619448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2054523"/>
            <a:ext cx="5486263" cy="2020689"/>
          </a:xfrm>
          <a:prstGeom prst="roundRect">
            <a:avLst>
              <a:gd name="adj" fmla="val 566"/>
            </a:avLst>
          </a:prstGeom>
          <a:solidFill>
            <a:srgbClr val="D1FA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189" y="2054523"/>
            <a:ext cx="38099" cy="2020689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7" name="Text 5"/>
          <p:cNvSpPr/>
          <p:nvPr/>
        </p:nvSpPr>
        <p:spPr>
          <a:xfrm>
            <a:off x="723882" y="2288266"/>
            <a:ext cx="521956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0B6B6A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882" y="2558459"/>
            <a:ext cx="4990975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Regularized logistic regression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23882" y="3036022"/>
            <a:ext cx="499097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Interpretable benchmark; coefficients show direction and strength.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48244" y="2054523"/>
            <a:ext cx="5486263" cy="2020689"/>
          </a:xfrm>
          <a:prstGeom prst="roundRect">
            <a:avLst>
              <a:gd name="adj" fmla="val 566"/>
            </a:avLst>
          </a:prstGeom>
          <a:solidFill>
            <a:srgbClr val="D1FAFA"/>
          </a:solidFill>
          <a:ln/>
        </p:spPr>
      </p:sp>
      <p:sp>
        <p:nvSpPr>
          <p:cNvPr id="11" name="Shape 9"/>
          <p:cNvSpPr/>
          <p:nvPr/>
        </p:nvSpPr>
        <p:spPr>
          <a:xfrm>
            <a:off x="6248244" y="2054523"/>
            <a:ext cx="38099" cy="2020689"/>
          </a:xfrm>
          <a:prstGeom prst="rect">
            <a:avLst/>
          </a:prstGeom>
          <a:solidFill>
            <a:srgbClr val="B819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4937" y="2288266"/>
            <a:ext cx="521956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0B6B6A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CANDIDATE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4937" y="2558459"/>
            <a:ext cx="4990975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Gradient boosting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14937" y="3036022"/>
            <a:ext cx="499097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Captures nonlinear interactions and mixed signals when the evidence earns a more flexible model.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189" y="4380012"/>
            <a:ext cx="11277318" cy="2020788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16" name="Text 14"/>
          <p:cNvSpPr/>
          <p:nvPr/>
        </p:nvSpPr>
        <p:spPr>
          <a:xfrm>
            <a:off x="761981" y="4620740"/>
            <a:ext cx="10667733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Compare on more than accuracy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61981" y="5025358"/>
            <a:ext cx="1097252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Ranking quality · calibration · stability · actionability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11277318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ACCURACY ALONE CAN HIDE A WEAK RETENTION MODEL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123224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best model balances ranking quality with calibrated probabilities and business value.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128812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563886"/>
          <a:ext cx="11277318" cy="914400"/>
        </p:xfrm>
        <a:graphic>
          <a:graphicData uri="http://schemas.openxmlformats.org/drawingml/2006/table">
            <a:tbl>
              <a:tblPr/>
              <a:tblGrid>
                <a:gridCol w="2255384"/>
                <a:gridCol w="5074714"/>
                <a:gridCol w="3947220"/>
              </a:tblGrid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spc="102" kern="1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METRIC FAMILY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spc="102" kern="1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WHAT TO INSPECT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spc="102" kern="1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DECISION USE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Ranking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Top-decile lift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Prioritize outreach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Calibration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Predicted vs observed churn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Trust score bands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Value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Incremental saves minus offer cost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Set intervention threshold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Stability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Performance by segment and month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Approve deployment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189" y="4126675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ILLUSTRATIVE MODEL EVALUATION DASHBOARD · NO SINGLE METRIC DECIDES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189" y="4132263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73483" cy="6858000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487744"/>
            <a:ext cx="414009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FROM SCORE TO CONVERSATION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387" y="815427"/>
            <a:ext cx="3759106" cy="1962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EXPLAINABILITY TURNS A SCORE INTO A CONVERSATION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33387" y="2879296"/>
            <a:ext cx="3759106" cy="4764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output must be understandable to the team taking the next action.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3387" y="2884884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672" y="1658342"/>
            <a:ext cx="6603835" cy="35413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99956" y="1955796"/>
            <a:ext cx="3052059" cy="204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spc="-26" kern="100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Explainable churn score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66930" y="3798992"/>
            <a:ext cx="1486957" cy="204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spc="-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Portfolio 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66930" y="4096927"/>
            <a:ext cx="1486957" cy="431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Signals moving overall risk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011" y="3177256"/>
            <a:ext cx="330190" cy="3301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2412" y="4016923"/>
            <a:ext cx="1486957" cy="204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spc="-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Customer view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92412" y="4314858"/>
            <a:ext cx="1486957" cy="431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Why this score assigned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494" y="3401791"/>
            <a:ext cx="330190" cy="3301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17895" y="3785784"/>
            <a:ext cx="1486957" cy="204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spc="-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Operational translation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917895" y="4083720"/>
            <a:ext cx="1486957" cy="431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Driver to treatment mapping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2976" y="3150840"/>
            <a:ext cx="330190" cy="3301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11277318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RISK ONLY MATTERS WHEN THE ACTION MATCHES THE DRIVER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613861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 high score without a relevant treatment is only a louder alert.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619448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054523"/>
          <a:ext cx="11277318" cy="914400"/>
        </p:xfrm>
        <a:graphic>
          <a:graphicData uri="http://schemas.openxmlformats.org/drawingml/2006/table">
            <a:tbl>
              <a:tblPr/>
              <a:tblGrid>
                <a:gridCol w="3383176"/>
                <a:gridCol w="7894142"/>
              </a:tblGrid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spc="102" kern="1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OBSERVED DRIVER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spc="102" kern="1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RETENTION PLAY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Service friction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Proactive technical resolution.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Price pressure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Plan review, value explanation, or targeted credit.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Contract cliff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Renewal conversation before the decision point.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Low engagement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4180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Onboarding, usage education, or relevant add-on.</a:t>
                      </a:r>
                      <a:endParaRPr lang="en-US" sz="17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E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189" y="4610199"/>
            <a:ext cx="63498" cy="551855"/>
          </a:xfrm>
          <a:prstGeom prst="rect">
            <a:avLst/>
          </a:prstGeom>
          <a:solidFill>
            <a:srgbClr val="B8195A"/>
          </a:solidFill>
          <a:ln/>
        </p:spPr>
      </p:sp>
      <p:sp>
        <p:nvSpPr>
          <p:cNvPr id="7" name="Text 4"/>
          <p:cNvSpPr/>
          <p:nvPr/>
        </p:nvSpPr>
        <p:spPr>
          <a:xfrm>
            <a:off x="749281" y="4764314"/>
            <a:ext cx="10985225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Driver → treatment → expected response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302665"/>
            <a:ext cx="6197445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DEPLOY THE MODEL AS A CLOSED-LOOP OPERATING SYSTEM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34984" y="1875897"/>
            <a:ext cx="6197445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Every intervention creates the next training signal.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34984" y="1881485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2316559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84" y="3020838"/>
            <a:ext cx="2870128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Score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4984" y="3425456"/>
            <a:ext cx="28701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Eligible customers on a fixed cadence.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01" y="2316559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62301" y="3020838"/>
            <a:ext cx="2870128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Route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962301" y="3425456"/>
            <a:ext cx="28701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Risk, drivers, and treatment to the retention queue.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4476651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4984" y="5180929"/>
            <a:ext cx="2870128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Learn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634984" y="5585547"/>
            <a:ext cx="28701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Feed outcomes into monitoring and retraining.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301" y="4476651"/>
            <a:ext cx="539736" cy="539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62301" y="5180929"/>
            <a:ext cx="2870128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Log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3962301" y="5585547"/>
            <a:ext cx="28701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Contact, offer, acceptance, and outcome.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34984" y="6339054"/>
            <a:ext cx="6197445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OPERATING RHYTHM · SCORE → ROUTE → LOG → LEARN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34984" y="6344642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pic>
        <p:nvPicPr>
          <p:cNvPr id="19" name="Image 4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017" y="0"/>
            <a:ext cx="4876678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16000"/>
                </a:lnTo>
                <a:close/>
              </a:path>
            </a:pathLst>
          </a:custGeom>
        </p:spPr>
      </p:pic>
      <p:sp>
        <p:nvSpPr>
          <p:cNvPr id="20" name="Shape 13"/>
          <p:cNvSpPr/>
          <p:nvPr/>
        </p:nvSpPr>
        <p:spPr>
          <a:xfrm>
            <a:off x="3727357" y="2316559"/>
            <a:ext cx="12700" cy="1931491"/>
          </a:xfrm>
          <a:prstGeom prst="rect">
            <a:avLst/>
          </a:prstGeom>
          <a:solidFill>
            <a:srgbClr val="D4BEAA"/>
          </a:solidFill>
          <a:ln/>
        </p:spPr>
      </p:sp>
      <p:sp>
        <p:nvSpPr>
          <p:cNvPr id="21" name="Shape 14"/>
          <p:cNvSpPr/>
          <p:nvPr/>
        </p:nvSpPr>
        <p:spPr>
          <a:xfrm>
            <a:off x="634984" y="4241701"/>
            <a:ext cx="3098722" cy="12700"/>
          </a:xfrm>
          <a:prstGeom prst="rect">
            <a:avLst/>
          </a:prstGeom>
          <a:solidFill>
            <a:srgbClr val="D4BEAA"/>
          </a:solidFill>
          <a:ln/>
        </p:spPr>
      </p:sp>
      <p:sp>
        <p:nvSpPr>
          <p:cNvPr id="22" name="Shape 15"/>
          <p:cNvSpPr/>
          <p:nvPr/>
        </p:nvSpPr>
        <p:spPr>
          <a:xfrm>
            <a:off x="3727357" y="4248051"/>
            <a:ext cx="12700" cy="1931491"/>
          </a:xfrm>
          <a:prstGeom prst="rect">
            <a:avLst/>
          </a:prstGeom>
          <a:solidFill>
            <a:srgbClr val="D4BEAA"/>
          </a:solidFill>
          <a:ln/>
        </p:spPr>
      </p:sp>
      <p:sp>
        <p:nvSpPr>
          <p:cNvPr id="23" name="Shape 16"/>
          <p:cNvSpPr/>
          <p:nvPr/>
        </p:nvSpPr>
        <p:spPr>
          <a:xfrm>
            <a:off x="3733707" y="4241701"/>
            <a:ext cx="3098722" cy="12700"/>
          </a:xfrm>
          <a:prstGeom prst="rect">
            <a:avLst/>
          </a:prstGeom>
          <a:solidFill>
            <a:srgbClr val="D4BEA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2026-10-11T20:06:19Z</dcterms:created>
  <dcterms:modified xsi:type="dcterms:W3CDTF">2026-10-11T20:06:19Z</dcterms:modified>
</cp:coreProperties>
</file>